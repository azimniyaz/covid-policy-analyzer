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64" r:id="rId5"/>
    <p:sldId id="317" r:id="rId6"/>
    <p:sldId id="327" r:id="rId7"/>
    <p:sldId id="329" r:id="rId8"/>
    <p:sldId id="319" r:id="rId9"/>
    <p:sldId id="314" r:id="rId10"/>
    <p:sldId id="330" r:id="rId11"/>
    <p:sldId id="321" r:id="rId12"/>
    <p:sldId id="322" r:id="rId13"/>
    <p:sldId id="323" r:id="rId14"/>
    <p:sldId id="32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 fontScale="90000"/>
          </a:bodyPr>
          <a:lstStyle/>
          <a:p>
            <a:r>
              <a:rPr lang="en-US" sz="6800"/>
              <a:t> NLP BASED PUBLIC SENTIMENT ANALYTIC </a:t>
            </a:r>
            <a:r>
              <a:rPr lang="en-US" sz="6800" dirty="0"/>
              <a:t>SHIFTS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3A95-C09D-EB35-8B04-B857A76D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0624"/>
            <a:ext cx="11393424" cy="896112"/>
          </a:xfrm>
        </p:spPr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D2D9-F4E0-1407-FA00-0130E5A4C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252728"/>
            <a:ext cx="11332464" cy="51846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During the COVID-19 pandemic, government authorities had to make rapid policy decisions such as lockdowns, school closures, or mask mandates—that directly impacted people’s lives. Public sentiment toward these policies played a crucial role in their success or failure: even well-intentioned rules faced resistance if they were poorly received. However, traditional decision-making lacked real-time feedback on how citizens actually felt. This motivated us to design a system that automatically analyzes public reactions from social media, aligns them with proposed policies, and helps authorities anticipate acceptance or resistance. By bridging the gap between </a:t>
            </a:r>
            <a:r>
              <a:rPr lang="en-US" b="1" dirty="0"/>
              <a:t>policy planning</a:t>
            </a:r>
            <a:r>
              <a:rPr lang="en-US" dirty="0"/>
              <a:t> and </a:t>
            </a:r>
            <a:r>
              <a:rPr lang="en-US" b="1" dirty="0"/>
              <a:t>public sentiment</a:t>
            </a:r>
            <a:r>
              <a:rPr lang="en-US" dirty="0"/>
              <a:t>, our system aims to support data-driven governance and improve crisis response effectiveness.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15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3402-3C41-B003-67A6-19A789ADD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411480"/>
            <a:ext cx="11393424" cy="694944"/>
          </a:xfrm>
        </p:spPr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EAAF20-1BB9-ADDF-D0DB-4BCC8496A7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9288" y="1490197"/>
            <a:ext cx="1139342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COVID-19 pandemic triggered large-scale discussions and emotional responses on social media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COVID-19-related tweets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statement evaluation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fine-tuned BERT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trained on a hybrid dataset combining Kaggle’s COVID-19 NLP dataset and real-world policy statements.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Tweets were categorized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Positive, Neutral, and Negative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sentiments after comprehensive text preprocessing and normalization.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analysis was performed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DistilBERT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TF-IDF with Logistic Regression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validate BERT’s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fine-tuned BERT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accuracy (~91%)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macro-F1 score (~0.896)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outperforming other models.</a:t>
            </a:r>
          </a:p>
        </p:txBody>
      </p:sp>
    </p:spTree>
    <p:extLst>
      <p:ext uri="{BB962C8B-B14F-4D97-AF65-F5344CB8AC3E}">
        <p14:creationId xmlns:p14="http://schemas.microsoft.com/office/powerpoint/2010/main" val="94200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11A0-5E48-6E29-590B-ABF097FAA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74904"/>
            <a:ext cx="11402568" cy="685800"/>
          </a:xfrm>
        </p:spPr>
        <p:txBody>
          <a:bodyPr>
            <a:normAutofit/>
          </a:bodyPr>
          <a:lstStyle/>
          <a:p>
            <a:r>
              <a:rPr lang="en-IN" sz="2400" dirty="0"/>
              <a:t>ARCHITECTURE DIAGRAM</a:t>
            </a:r>
          </a:p>
        </p:txBody>
      </p:sp>
      <p:pic>
        <p:nvPicPr>
          <p:cNvPr id="4" name="Content Placeholder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26DAEE54-DC5C-A637-E814-7E3991FBA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920" y="1235836"/>
            <a:ext cx="11301984" cy="524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69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7A6F2-F9A7-3330-77B9-554D19D7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402336"/>
            <a:ext cx="11365992" cy="603504"/>
          </a:xfrm>
        </p:spPr>
        <p:txBody>
          <a:bodyPr>
            <a:normAutofit fontScale="90000"/>
          </a:bodyPr>
          <a:lstStyle/>
          <a:p>
            <a:r>
              <a:rPr lang="en-IN" dirty="0"/>
              <a:t>ACCOMPLISHED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07FD-A4CB-9078-E201-DA346B7E5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1097280"/>
            <a:ext cx="11365992" cy="5358384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IN" dirty="0"/>
              <a:t>Dataset Preparation</a:t>
            </a:r>
          </a:p>
          <a:p>
            <a:pPr marL="342900" indent="-342900">
              <a:buAutoNum type="arabicPeriod"/>
            </a:pPr>
            <a:r>
              <a:rPr lang="en-IN" dirty="0"/>
              <a:t>2. Model Training (Fine-Tuning BERT)</a:t>
            </a:r>
          </a:p>
          <a:p>
            <a:pPr marL="342900" indent="-342900">
              <a:buAutoNum type="arabicPeriod"/>
            </a:pPr>
            <a:r>
              <a:rPr lang="en-IN" dirty="0"/>
              <a:t>Prediction Logic</a:t>
            </a:r>
          </a:p>
          <a:p>
            <a:pPr marL="342900" indent="-342900">
              <a:buAutoNum type="arabicPeriod"/>
            </a:pPr>
            <a:r>
              <a:rPr lang="en-IN" dirty="0"/>
              <a:t>Decision Rule for Policies</a:t>
            </a:r>
          </a:p>
          <a:p>
            <a:pPr marL="342900" indent="-342900">
              <a:buAutoNum type="arabicPeriod"/>
            </a:pPr>
            <a:r>
              <a:rPr lang="en-IN" dirty="0"/>
              <a:t>Front-End Development (</a:t>
            </a:r>
            <a:r>
              <a:rPr lang="en-IN" dirty="0" err="1"/>
              <a:t>Streamlit</a:t>
            </a:r>
            <a:r>
              <a:rPr lang="en-IN" dirty="0"/>
              <a:t> App)</a:t>
            </a:r>
          </a:p>
          <a:p>
            <a:pPr marL="342900" indent="-342900">
              <a:buAutoNum type="arabicPeriod"/>
            </a:pPr>
            <a:r>
              <a:rPr lang="en-US" dirty="0"/>
              <a:t>Deployment via </a:t>
            </a:r>
            <a:r>
              <a:rPr lang="en-US" dirty="0" err="1"/>
              <a:t>ngrok</a:t>
            </a:r>
            <a:r>
              <a:rPr lang="en-US" dirty="0"/>
              <a:t> (on Google </a:t>
            </a:r>
            <a:r>
              <a:rPr lang="en-US" dirty="0" err="1"/>
              <a:t>Colab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Compared with alternate models 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316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54905-3B10-67E5-15BB-D8D4EBA7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93192"/>
            <a:ext cx="11402568" cy="923544"/>
          </a:xfrm>
        </p:spPr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B2E02-71CF-4D27-EA15-80F8F5C40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243584"/>
            <a:ext cx="11369040" cy="522122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1.Data Quality Issues:</a:t>
            </a:r>
            <a:endParaRPr lang="en-US" dirty="0"/>
          </a:p>
          <a:p>
            <a:r>
              <a:rPr lang="en-US" dirty="0"/>
              <a:t>Tweets contained slang, abbreviations, misspellings, and inconsistent grammar.</a:t>
            </a:r>
          </a:p>
          <a:p>
            <a:pPr marL="0" indent="0">
              <a:buNone/>
            </a:pPr>
            <a:r>
              <a:rPr lang="en-US" sz="1600" b="1" dirty="0"/>
              <a:t>2.Dataset Integration:</a:t>
            </a:r>
            <a:endParaRPr lang="en-US" sz="1600" dirty="0"/>
          </a:p>
          <a:p>
            <a:r>
              <a:rPr lang="en-US" sz="1600" dirty="0"/>
              <a:t>Combined Kaggle dataset with real-world policy statements.</a:t>
            </a:r>
          </a:p>
          <a:p>
            <a:pPr marL="0" indent="0">
              <a:buNone/>
            </a:pPr>
            <a:r>
              <a:rPr lang="en-US" sz="1600" b="1" dirty="0"/>
              <a:t>3.Class Imbalance:</a:t>
            </a:r>
            <a:endParaRPr lang="en-US" sz="1600" dirty="0"/>
          </a:p>
          <a:p>
            <a:r>
              <a:rPr lang="en-US" sz="1600" dirty="0"/>
              <a:t>Neutral class dominated the dataset.</a:t>
            </a:r>
          </a:p>
          <a:p>
            <a:pPr marL="0" indent="0">
              <a:buNone/>
            </a:pPr>
            <a:r>
              <a:rPr lang="en-IN" sz="1600" b="1" dirty="0"/>
              <a:t>4.Model Fine-Tuning Complexity:</a:t>
            </a:r>
          </a:p>
          <a:p>
            <a:r>
              <a:rPr lang="en-US" sz="1600" dirty="0"/>
              <a:t>Transformer models (BERT, </a:t>
            </a:r>
            <a:r>
              <a:rPr lang="en-US" sz="1600" dirty="0" err="1"/>
              <a:t>RoBERTa</a:t>
            </a:r>
            <a:r>
              <a:rPr lang="en-US" sz="1600" dirty="0"/>
              <a:t>) required heavy computation and GPU memory.</a:t>
            </a:r>
            <a:endParaRPr lang="en-IN" sz="1600" b="1" dirty="0"/>
          </a:p>
          <a:p>
            <a:pPr marL="0" indent="0">
              <a:buNone/>
            </a:pPr>
            <a:r>
              <a:rPr lang="en-US" sz="1600" b="1" dirty="0"/>
              <a:t>5.Model Comparison Difficulties:</a:t>
            </a:r>
            <a:endParaRPr lang="en-US" sz="1600" dirty="0"/>
          </a:p>
          <a:p>
            <a:r>
              <a:rPr lang="en-US" sz="1600" dirty="0"/>
              <a:t>Needed uniform preprocessing, tokenization, and evaluation settings across BERT, </a:t>
            </a:r>
            <a:r>
              <a:rPr lang="en-US" sz="1600" dirty="0" err="1"/>
              <a:t>DistilBERT</a:t>
            </a:r>
            <a:r>
              <a:rPr lang="en-US" sz="1600" dirty="0"/>
              <a:t>, and </a:t>
            </a:r>
            <a:r>
              <a:rPr lang="en-US" sz="1600" dirty="0" err="1"/>
              <a:t>RoBERTa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b="1" dirty="0"/>
              <a:t>6.Deployment Challenges:</a:t>
            </a:r>
            <a:endParaRPr lang="en-US" sz="1600" dirty="0"/>
          </a:p>
          <a:p>
            <a:r>
              <a:rPr lang="en-US" sz="1600" dirty="0"/>
              <a:t>Integrating the large BERT model into </a:t>
            </a:r>
            <a:r>
              <a:rPr lang="en-US" sz="1600" dirty="0" err="1"/>
              <a:t>Streamlit</a:t>
            </a:r>
            <a:r>
              <a:rPr lang="en-US" sz="1600" dirty="0"/>
              <a:t> app led to slow startup and high RAM usage.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2436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D2C2D-1391-D35D-55AF-AEF77B78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IN"/>
              <a:t>NOVELTY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41D19E-2896-8BB3-B41E-A664F2FBC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99309"/>
              </p:ext>
            </p:extLst>
          </p:nvPr>
        </p:nvGraphicFramePr>
        <p:xfrm>
          <a:off x="1288391" y="2310063"/>
          <a:ext cx="9615219" cy="3725616"/>
        </p:xfrm>
        <a:graphic>
          <a:graphicData uri="http://schemas.openxmlformats.org/drawingml/2006/table">
            <a:tbl>
              <a:tblPr/>
              <a:tblGrid>
                <a:gridCol w="1228946">
                  <a:extLst>
                    <a:ext uri="{9D8B030D-6E8A-4147-A177-3AD203B41FA5}">
                      <a16:colId xmlns:a16="http://schemas.microsoft.com/office/drawing/2014/main" val="935950686"/>
                    </a:ext>
                  </a:extLst>
                </a:gridCol>
                <a:gridCol w="2372964">
                  <a:extLst>
                    <a:ext uri="{9D8B030D-6E8A-4147-A177-3AD203B41FA5}">
                      <a16:colId xmlns:a16="http://schemas.microsoft.com/office/drawing/2014/main" val="4294145261"/>
                    </a:ext>
                  </a:extLst>
                </a:gridCol>
                <a:gridCol w="3029418">
                  <a:extLst>
                    <a:ext uri="{9D8B030D-6E8A-4147-A177-3AD203B41FA5}">
                      <a16:colId xmlns:a16="http://schemas.microsoft.com/office/drawing/2014/main" val="3117802763"/>
                    </a:ext>
                  </a:extLst>
                </a:gridCol>
                <a:gridCol w="2983891">
                  <a:extLst>
                    <a:ext uri="{9D8B030D-6E8A-4147-A177-3AD203B41FA5}">
                      <a16:colId xmlns:a16="http://schemas.microsoft.com/office/drawing/2014/main" val="2281416403"/>
                    </a:ext>
                  </a:extLst>
                </a:gridCol>
              </a:tblGrid>
              <a:tr h="210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Aspect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Existing Works / Models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Proposed Fine-Tuned BERT System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Novelty / Improvement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174169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Dataset Source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Used only Kaggle or limited COVID-19 tweet datasets.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Combines Kaggle COVID-19 tweets with real-world policy statements.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Broader coverage and real-context adaptability for public policy sentiment.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383382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Data Preprocessing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Basic cleaning; limited handling of noise and slang.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Comprehensive cleaning pipeline (URLs, mentions, emojis, normalization).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Improved text quality, enabling better semantic understanding.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150098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Model Architecture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Classical ML models (SVM, NB, LSTM, GRU) or unfine-tuned transformers.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Fine-tuned </a:t>
                      </a:r>
                      <a:r>
                        <a:rPr lang="en-US" sz="900" b="1"/>
                        <a:t>BERT-base</a:t>
                      </a:r>
                      <a:r>
                        <a:rPr lang="en-US" sz="900"/>
                        <a:t> optimized for COVID-19 domain.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Context-aware learning with superior accuracy and F1-score.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974628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Class Imbalance Handling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Often ignored or handled by oversampling.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Weighted loss during training to balance classes.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Reduces bias toward majority class; improves Neutral/Negative prediction.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43250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Model Comparison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Typically single-model evaluation.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Compared against </a:t>
                      </a:r>
                      <a:r>
                        <a:rPr lang="en-US" sz="900" b="1"/>
                        <a:t>DistilBERT</a:t>
                      </a:r>
                      <a:r>
                        <a:rPr lang="en-US" sz="900"/>
                        <a:t>, </a:t>
                      </a:r>
                      <a:r>
                        <a:rPr lang="en-US" sz="900" b="1"/>
                        <a:t>RoBERTa</a:t>
                      </a:r>
                      <a:r>
                        <a:rPr lang="en-US" sz="900"/>
                        <a:t>, and </a:t>
                      </a:r>
                      <a:r>
                        <a:rPr lang="en-US" sz="900" b="1"/>
                        <a:t>Logistic Regression</a:t>
                      </a:r>
                      <a:r>
                        <a:rPr lang="en-US" sz="900"/>
                        <a:t>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Multi-model benchmarking validates BERT’s superiority.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592451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Accuracy / Performance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70–85% accuracy in most studies.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Achieved </a:t>
                      </a:r>
                      <a:r>
                        <a:rPr lang="en-US" sz="900" b="1"/>
                        <a:t>91.05% accuracy</a:t>
                      </a:r>
                      <a:r>
                        <a:rPr lang="en-US" sz="900"/>
                        <a:t> and </a:t>
                      </a:r>
                      <a:r>
                        <a:rPr lang="en-US" sz="900" b="1"/>
                        <a:t>0.896 macro-F1 score</a:t>
                      </a:r>
                      <a:r>
                        <a:rPr lang="en-US" sz="900"/>
                        <a:t>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Demonstrates clear quantitative improvement.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65332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Practical Deployment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Limited to offline notebooks or research prototypes.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Deployed via </a:t>
                      </a:r>
                      <a:r>
                        <a:rPr lang="en-US" sz="900" b="1"/>
                        <a:t>Streamlit</a:t>
                      </a:r>
                      <a:r>
                        <a:rPr lang="en-US" sz="900"/>
                        <a:t> + </a:t>
                      </a:r>
                      <a:r>
                        <a:rPr lang="en-US" sz="900" b="1"/>
                        <a:t>Ngrok</a:t>
                      </a:r>
                      <a:r>
                        <a:rPr lang="en-US" sz="900"/>
                        <a:t> for real-time online inference.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Fully interactive web app for live policy sentiment prediction.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417633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Output Interpretation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Provided only sentiment label.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Outputs </a:t>
                      </a:r>
                      <a:r>
                        <a:rPr lang="en-US" sz="900" b="1"/>
                        <a:t>confidence scores</a:t>
                      </a:r>
                      <a:r>
                        <a:rPr lang="en-US" sz="900"/>
                        <a:t> and </a:t>
                      </a:r>
                      <a:r>
                        <a:rPr lang="en-US" sz="900" b="1"/>
                        <a:t>decision feedback</a:t>
                      </a:r>
                      <a:r>
                        <a:rPr lang="en-US" sz="900"/>
                        <a:t> (accept/change policy).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Enhances interpretability and decision support.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278639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Adaptability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General social media sentiment.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Focused on </a:t>
                      </a:r>
                      <a:r>
                        <a:rPr lang="en-US" sz="900" b="1"/>
                        <a:t>COVID-19 policy communication</a:t>
                      </a:r>
                      <a:r>
                        <a:rPr lang="en-US" sz="900"/>
                        <a:t> and </a:t>
                      </a:r>
                      <a:r>
                        <a:rPr lang="en-US" sz="900" b="1"/>
                        <a:t>public opinion</a:t>
                      </a:r>
                      <a:r>
                        <a:rPr lang="en-US" sz="900"/>
                        <a:t>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Domain-specific fine-tuning for policymaking and crisis management.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161072"/>
                  </a:ext>
                </a:extLst>
              </a:tr>
              <a:tr h="351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Scalability &amp; Usability</a:t>
                      </a:r>
                      <a:endParaRPr lang="en-IN" sz="900"/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No user interface provided.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Lightweight web UI enabling instant sentiment analysis.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End-to-end accessible system for public and institutional use.</a:t>
                      </a:r>
                    </a:p>
                  </a:txBody>
                  <a:tcPr marL="35707" marR="35707" marT="17853" marB="17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138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233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D09D-41BE-9D44-89C8-0F8017C3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93192"/>
            <a:ext cx="11393424" cy="731520"/>
          </a:xfrm>
        </p:spPr>
        <p:txBody>
          <a:bodyPr/>
          <a:lstStyle/>
          <a:p>
            <a:r>
              <a:rPr lang="en-IN" dirty="0">
                <a:latin typeface="Abadi" panose="020F0502020204030204" pitchFamily="34" charset="0"/>
              </a:rPr>
              <a:t>RESULTS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7C5894-ECD2-2015-6C23-71176E37B6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66800" y="2163916"/>
            <a:ext cx="4664075" cy="3627131"/>
          </a:xfrm>
          <a:prstGeom prst="rect">
            <a:avLst/>
          </a:prstGeom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268CCE-DB61-034A-B97E-911838E43A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81767" y="2103438"/>
            <a:ext cx="4622791" cy="374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7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AAE1-9F50-3DD7-EC5D-1C8484A8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446314"/>
            <a:ext cx="11321143" cy="805543"/>
          </a:xfrm>
        </p:spPr>
        <p:txBody>
          <a:bodyPr/>
          <a:lstStyle/>
          <a:p>
            <a:r>
              <a:rPr lang="en-IN" b="1" dirty="0">
                <a:latin typeface="Abadi" panose="020B0604020104020204" pitchFamily="34" charset="0"/>
              </a:rPr>
              <a:t>RESULTS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B6FA3D-5B99-D416-697C-38A5492B2E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75857" y="2358690"/>
            <a:ext cx="5464629" cy="362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4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26835-1D7A-1958-C235-CFC21623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IN"/>
              <a:t>Comparison with alternate models </a:t>
            </a:r>
            <a:r>
              <a:rPr lang="en-IN" dirty="0"/>
              <a:t> </a:t>
            </a:r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0127B8F-D919-0C4B-78AC-9FE9407A5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1775819"/>
              </p:ext>
            </p:extLst>
          </p:nvPr>
        </p:nvGraphicFramePr>
        <p:xfrm>
          <a:off x="1066800" y="2734617"/>
          <a:ext cx="10058402" cy="2876505"/>
        </p:xfrm>
        <a:graphic>
          <a:graphicData uri="http://schemas.openxmlformats.org/drawingml/2006/table">
            <a:tbl>
              <a:tblPr firstRow="1" bandRow="1"/>
              <a:tblGrid>
                <a:gridCol w="2106112">
                  <a:extLst>
                    <a:ext uri="{9D8B030D-6E8A-4147-A177-3AD203B41FA5}">
                      <a16:colId xmlns:a16="http://schemas.microsoft.com/office/drawing/2014/main" val="1895907614"/>
                    </a:ext>
                  </a:extLst>
                </a:gridCol>
                <a:gridCol w="1817667">
                  <a:extLst>
                    <a:ext uri="{9D8B030D-6E8A-4147-A177-3AD203B41FA5}">
                      <a16:colId xmlns:a16="http://schemas.microsoft.com/office/drawing/2014/main" val="2554343482"/>
                    </a:ext>
                  </a:extLst>
                </a:gridCol>
                <a:gridCol w="1139476">
                  <a:extLst>
                    <a:ext uri="{9D8B030D-6E8A-4147-A177-3AD203B41FA5}">
                      <a16:colId xmlns:a16="http://schemas.microsoft.com/office/drawing/2014/main" val="3121724939"/>
                    </a:ext>
                  </a:extLst>
                </a:gridCol>
                <a:gridCol w="1127458">
                  <a:extLst>
                    <a:ext uri="{9D8B030D-6E8A-4147-A177-3AD203B41FA5}">
                      <a16:colId xmlns:a16="http://schemas.microsoft.com/office/drawing/2014/main" val="3792598123"/>
                    </a:ext>
                  </a:extLst>
                </a:gridCol>
                <a:gridCol w="3867689">
                  <a:extLst>
                    <a:ext uri="{9D8B030D-6E8A-4147-A177-3AD203B41FA5}">
                      <a16:colId xmlns:a16="http://schemas.microsoft.com/office/drawing/2014/main" val="2094943827"/>
                    </a:ext>
                  </a:extLst>
                </a:gridCol>
              </a:tblGrid>
              <a:tr h="57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Model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Type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Accuracy (%)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Macro F1-Score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Remarks / Observations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658855"/>
                  </a:ext>
                </a:extLst>
              </a:tr>
              <a:tr h="57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Logistic Regression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Classical ML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79.98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0.779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Performs decently on simple text but lacks contextual understanding.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564617"/>
                  </a:ext>
                </a:extLst>
              </a:tr>
              <a:tr h="57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RoBERTa Base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Transformer (unfine-tuned)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16.30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0.093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Poor performance due to absence of domain-specific fine-tuning.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964244"/>
                  </a:ext>
                </a:extLst>
              </a:tr>
              <a:tr h="57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DistilBERT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Compressed Transformer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91.73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0.909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Lightweight and efficient, performs well but slightly less accurate than full BERT.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854313"/>
                  </a:ext>
                </a:extLst>
              </a:tr>
              <a:tr h="57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Fine-Tuned BERT (Proposed System)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Transformer (Fine-tuned)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99.01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0.896</a:t>
                      </a:r>
                      <a:endParaRPr lang="en-IN" sz="1500"/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Achieves the highest accuracy and robust sentiment classification on COVID-19 data.</a:t>
                      </a:r>
                    </a:p>
                  </a:txBody>
                  <a:tcPr marL="74230" marR="74230" marT="37115" marB="371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420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793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2BF37-083A-7E02-73D3-DDF207B8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85505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{8BB257E6-3234-488C-B48B-5EA5CC0E4F89}tf11531919_win32</Template>
  <TotalTime>394</TotalTime>
  <Words>770</Words>
  <Application>Microsoft Office PowerPoint</Application>
  <PresentationFormat>Widescreen</PresentationFormat>
  <Paragraphs>107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Abadi</vt:lpstr>
      <vt:lpstr>Arial</vt:lpstr>
      <vt:lpstr>Avenir Next LT Pro</vt:lpstr>
      <vt:lpstr>Avenir Next LT Pro Light</vt:lpstr>
      <vt:lpstr>Calibri</vt:lpstr>
      <vt:lpstr>Garamond</vt:lpstr>
      <vt:lpstr>SavonVTI</vt:lpstr>
      <vt:lpstr> NLP BASED PUBLIC SENTIMENT ANALYTIC SHIFTS</vt:lpstr>
      <vt:lpstr>MOTIVATION</vt:lpstr>
      <vt:lpstr>ABSTRACT</vt:lpstr>
      <vt:lpstr>ARCHITECTURE DIAGRAM</vt:lpstr>
      <vt:lpstr>ACCOMPLISHED</vt:lpstr>
      <vt:lpstr>CHALLENGES</vt:lpstr>
      <vt:lpstr>NOVELTY</vt:lpstr>
      <vt:lpstr>RESULTS</vt:lpstr>
      <vt:lpstr>RESULTS</vt:lpstr>
      <vt:lpstr>Comparison with alternate models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Azim Niyaz</dc:creator>
  <cp:lastModifiedBy>Azim Niyaz</cp:lastModifiedBy>
  <cp:revision>8</cp:revision>
  <dcterms:created xsi:type="dcterms:W3CDTF">2025-09-28T14:15:07Z</dcterms:created>
  <dcterms:modified xsi:type="dcterms:W3CDTF">2026-02-05T17:23:22Z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